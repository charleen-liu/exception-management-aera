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9" r:id="rId4"/>
    <p:sldId id="257" r:id="rId5"/>
    <p:sldId id="258" r:id="rId6"/>
    <p:sldId id="265" r:id="rId7"/>
    <p:sldId id="260" r:id="rId8"/>
    <p:sldId id="267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6F5C10-D086-C245-AE6C-9B01ACC27430}" v="474" dt="2026-04-01T17:43:31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014A-6569-A275-909D-61113679E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67D54-4192-47D1-A402-F4294B431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C37BE-D4E3-C06A-FEFB-DD3D3071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D482B-C72C-0F7D-F3F4-10039A27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F5B23-3D00-A833-F158-9009F603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4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B02D-0531-2A13-DC91-9E9B1868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5AC9-981E-DF35-0792-A326DBCC3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1C0A2-FFB9-C65C-469A-D10218E6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B994A-A1DC-95BF-95D9-EC00966C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8CBA8-557D-E4E3-8BBD-13AD8095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4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34FC-F09D-7FA9-6A45-56BBEAF7D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1FA90-F24B-C988-1C3A-B404B2E9D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3DD2F-54C6-474A-12C2-F0D15D93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73842-CB0A-FAE1-143A-ACA354D9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6F45F-57FF-A58B-7E34-8F72B977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6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A356-BA93-66BC-8FA9-2C8785E3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1115C-6D6B-83DE-61E5-B204454ED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257D2-E449-69B6-0A7B-9DB279F18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1E62F-C68D-58EB-94E9-FA5F6E6C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656D1-6C96-412C-4A90-B22EAEB7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864DC-1322-B790-8075-13086952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6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BD91-34E1-5E01-87F2-84E514C4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E4FFF-85A9-1727-7343-37513434E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69726-D368-C5EB-FE8A-84CB981A3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210D8-7247-F2D7-0A55-23DFDB5C8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9F05C-E3EA-B349-428A-4FE29C11C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49662-4F6E-D26F-2355-D4D199FC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CDEBA-3F17-65E2-0F94-16B84680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CFB56-5FD3-706C-7A54-63D68CFA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7977-F100-4D2A-E35B-BEF67E9F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68952-BD79-C548-DFF5-1A151272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20B68-F794-7E36-1E73-80732E7D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631FB-E171-09A0-3D87-2C416D04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5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ACC68-9364-86EA-69BA-5663C720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147C7-DC9C-664C-769A-AB9BF1BC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A1AD4-20B1-5830-5B35-207F7FDD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8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E8E8-7C9A-8C7F-712A-DA806F18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7D9F2-EF8C-4E57-B695-5B04E5CD7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5E0C9-7D4B-1D35-5EC3-2C5DC9571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760F6-3069-34B8-FB11-1122EC10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DFD4A-EC11-E9AB-6335-CA9F1C2C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0376E-9821-F87F-A41D-7C5289E9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1098-64FD-325C-346C-10DE3A6F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2FB8A-C2C3-DB2A-146A-098B610B2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6C1B5-8EF4-98FA-D963-50E7BED9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48E6-A6CE-8577-08F3-63B257B8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853C9-607A-A695-7000-23131BD2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9343-5B3B-49FE-54FE-FEF6399F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1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5B48-6784-6F5C-39FA-CF6A8AB3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059EE-5E88-4E97-0BB0-518F511EB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DEE35-B3CE-4342-1647-2D242013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33C08-A4F1-6CD9-2391-896076A3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D3489-A4FF-8A12-1A30-A96118A3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6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9550A-B151-CD72-C28C-4626EA161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22FDD-5C17-D71E-FB62-9072A1002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FF83B-340A-49C8-DE90-423E6144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3310B-3DDB-02E2-E546-2CAB7D4D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576B2-F4D0-7399-9889-167D8DB7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3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49C01-810F-4201-792B-53AB84EDC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3DA7-DC3A-116B-3E53-F6DF9EC6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0787-A04B-BD6D-F939-6385D8C22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92AEB-2473-0444-A586-48A9E6EBB25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C4E2-4371-5D54-5648-61E8BA636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3D9E5-D05F-CF2B-ECDF-0B24A68B7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71175-D6A5-FC41-B7D8-2E596187C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1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harleen-liu.github.io/scm-exception-prototype/SBN_home.html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020-9083-FF6F-E2B3-471459BDC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40" y="931546"/>
            <a:ext cx="10515600" cy="836930"/>
          </a:xfrm>
        </p:spPr>
        <p:txBody>
          <a:bodyPr/>
          <a:lstStyle/>
          <a:p>
            <a:r>
              <a:rPr lang="en-US" b="1"/>
              <a:t>Exception</a:t>
            </a:r>
            <a:r>
              <a:rPr lang="en-US"/>
              <a:t> </a:t>
            </a:r>
            <a:r>
              <a:rPr lang="en-US" b="1"/>
              <a:t>Management - SAP</a:t>
            </a:r>
            <a:r>
              <a:rPr lang="en-US"/>
              <a:t> </a:t>
            </a:r>
            <a:r>
              <a:rPr lang="en-US" b="1"/>
              <a:t>BN</a:t>
            </a:r>
            <a:r>
              <a:rPr lang="en-US"/>
              <a:t> </a:t>
            </a:r>
            <a:r>
              <a:rPr lang="en-US" b="1"/>
              <a:t>×</a:t>
            </a:r>
            <a:r>
              <a:rPr lang="en-US"/>
              <a:t> </a:t>
            </a:r>
            <a:r>
              <a:rPr lang="en-US" b="1"/>
              <a:t>Aera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4A6C-9EE6-6A22-1281-3B74444A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840" y="2181225"/>
            <a:ext cx="10515600" cy="49085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Concept &amp; Prototype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BE3E26-4848-88DC-E70B-24792553DFA4}"/>
              </a:ext>
            </a:extLst>
          </p:cNvPr>
          <p:cNvSpPr txBox="1">
            <a:spLocks/>
          </p:cNvSpPr>
          <p:nvPr/>
        </p:nvSpPr>
        <p:spPr>
          <a:xfrm>
            <a:off x="1074783" y="4937488"/>
            <a:ext cx="10515600" cy="9889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/>
              <a:t>Charleen Liu · April 2026                                                                               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i="1"/>
              <a:t>Prototype: </a:t>
            </a:r>
            <a:r>
              <a:rPr lang="en-US" sz="1400" i="1">
                <a:hlinkClick r:id="rId2"/>
              </a:rPr>
              <a:t>https://</a:t>
            </a:r>
            <a:r>
              <a:rPr lang="en-US" sz="1400" i="1" err="1">
                <a:hlinkClick r:id="rId2"/>
              </a:rPr>
              <a:t>charleen-liu.github.io</a:t>
            </a:r>
            <a:r>
              <a:rPr lang="en-US" sz="1400" i="1">
                <a:hlinkClick r:id="rId2"/>
              </a:rPr>
              <a:t>/</a:t>
            </a:r>
            <a:r>
              <a:rPr lang="en-US" sz="1400" i="1" err="1">
                <a:hlinkClick r:id="rId2"/>
              </a:rPr>
              <a:t>scm</a:t>
            </a:r>
            <a:r>
              <a:rPr lang="en-US" sz="1400" i="1">
                <a:hlinkClick r:id="rId2"/>
              </a:rPr>
              <a:t>-exception-prototype/</a:t>
            </a:r>
            <a:r>
              <a:rPr lang="en-US" sz="1400" i="1" err="1">
                <a:hlinkClick r:id="rId2"/>
              </a:rPr>
              <a:t>SBN_home.html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1227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FFC61A-F69C-B110-D331-D38BF68B3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1230" cy="6858000"/>
          </a:xfrm>
          <a:prstGeom prst="rect">
            <a:avLst/>
          </a:prstGeom>
        </p:spPr>
      </p:pic>
      <p:sp>
        <p:nvSpPr>
          <p:cNvPr id="7" name="Double Bracket 6">
            <a:extLst>
              <a:ext uri="{FF2B5EF4-FFF2-40B4-BE49-F238E27FC236}">
                <a16:creationId xmlns:a16="http://schemas.microsoft.com/office/drawing/2014/main" id="{5544FDE2-8AD6-431A-B6C6-CA48490B574F}"/>
              </a:ext>
            </a:extLst>
          </p:cNvPr>
          <p:cNvSpPr/>
          <p:nvPr/>
        </p:nvSpPr>
        <p:spPr>
          <a:xfrm>
            <a:off x="441703" y="945396"/>
            <a:ext cx="1650570" cy="1906291"/>
          </a:xfrm>
          <a:prstGeom prst="bracketPair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760BD8-8298-9A5A-1382-E17B52736F36}"/>
              </a:ext>
            </a:extLst>
          </p:cNvPr>
          <p:cNvCxnSpPr>
            <a:stCxn id="7" idx="3"/>
          </p:cNvCxnSpPr>
          <p:nvPr/>
        </p:nvCxnSpPr>
        <p:spPr>
          <a:xfrm flipV="1">
            <a:off x="2092273" y="1883044"/>
            <a:ext cx="5129937" cy="1549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BEF972F-F347-3EB5-09AE-22253F59CBBC}"/>
              </a:ext>
            </a:extLst>
          </p:cNvPr>
          <p:cNvSpPr txBox="1"/>
          <p:nvPr/>
        </p:nvSpPr>
        <p:spPr>
          <a:xfrm>
            <a:off x="7279558" y="1239555"/>
            <a:ext cx="3246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Supply Chain Exceptions Card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4E7EC-0F46-0CB6-E2F5-78499760B483}"/>
              </a:ext>
            </a:extLst>
          </p:cNvPr>
          <p:cNvSpPr txBox="1"/>
          <p:nvPr/>
        </p:nvSpPr>
        <p:spPr>
          <a:xfrm>
            <a:off x="7288077" y="2752020"/>
            <a:ext cx="4214494" cy="1353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SC Exceptions card shows live exception count, urgency signal, and top supplier at risk                  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Drill into any exception for full detail, or tap </a:t>
            </a:r>
            <a:r>
              <a:rPr lang="en-US" sz="1400" b="1"/>
              <a:t>View All</a:t>
            </a:r>
            <a:r>
              <a:rPr lang="en-US" sz="1400"/>
              <a:t> to open the Exception Inbox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CF1C7-520B-DC48-CBCA-D5015C103420}"/>
              </a:ext>
            </a:extLst>
          </p:cNvPr>
          <p:cNvSpPr txBox="1"/>
          <p:nvPr/>
        </p:nvSpPr>
        <p:spPr>
          <a:xfrm>
            <a:off x="7288077" y="330651"/>
            <a:ext cx="1921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SBN Home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CCBE5-8E5C-2991-0D9C-43467587EF5A}"/>
              </a:ext>
            </a:extLst>
          </p:cNvPr>
          <p:cNvSpPr txBox="1"/>
          <p:nvPr/>
        </p:nvSpPr>
        <p:spPr>
          <a:xfrm>
            <a:off x="7288077" y="1670518"/>
            <a:ext cx="43971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enlo" panose="020B0609030804020204" pitchFamily="49" charset="0"/>
              </a:rPr>
              <a:t>The SBN homepage surfaces active exceptions at a glance, giving buyers immediate visibility without navigating away from their daily workflow.</a:t>
            </a:r>
            <a:endParaRPr lang="en-US" sz="1200">
              <a:solidFill>
                <a:schemeClr val="tx1">
                  <a:lumMod val="65000"/>
                  <a:lumOff val="35000"/>
                </a:schemeClr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17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FB54-3B6D-3A01-FC23-BD17443E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4F1A1A-8B54-A3F5-3ACE-513801F54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981229" cy="6858000"/>
          </a:xfrm>
          <a:prstGeom prst="rect">
            <a:avLst/>
          </a:prstGeom>
        </p:spPr>
      </p:pic>
      <p:sp>
        <p:nvSpPr>
          <p:cNvPr id="2" name="Double Bracket 1">
            <a:extLst>
              <a:ext uri="{FF2B5EF4-FFF2-40B4-BE49-F238E27FC236}">
                <a16:creationId xmlns:a16="http://schemas.microsoft.com/office/drawing/2014/main" id="{D3298B8A-0E63-1AB2-7092-EC1D68C64232}"/>
              </a:ext>
            </a:extLst>
          </p:cNvPr>
          <p:cNvSpPr/>
          <p:nvPr/>
        </p:nvSpPr>
        <p:spPr>
          <a:xfrm>
            <a:off x="4587499" y="325464"/>
            <a:ext cx="2200759" cy="2572719"/>
          </a:xfrm>
          <a:prstGeom prst="bracketPair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47C23B6-B8F3-2AFB-4499-A53AB394598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6788258" y="1611824"/>
            <a:ext cx="1511084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338534-BC6E-04D0-4369-F090B9EE693B}"/>
              </a:ext>
            </a:extLst>
          </p:cNvPr>
          <p:cNvSpPr txBox="1"/>
          <p:nvPr/>
        </p:nvSpPr>
        <p:spPr>
          <a:xfrm>
            <a:off x="8376834" y="1288657"/>
            <a:ext cx="2998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Buyers are notified of new and escalating exceptions in real time via the notification bell — no polling, no manual triage.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C3085-2EED-8E3D-E767-45A5C43771E5}"/>
              </a:ext>
            </a:extLst>
          </p:cNvPr>
          <p:cNvSpPr txBox="1"/>
          <p:nvPr/>
        </p:nvSpPr>
        <p:spPr>
          <a:xfrm>
            <a:off x="7288076" y="330651"/>
            <a:ext cx="32638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SBN Home: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74197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3238-B2CC-71BD-F070-7EE6963B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2535CA-4F65-7083-BC93-CB708BA3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24456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CF42DB-25A1-263A-00A3-EE832C277841}"/>
              </a:ext>
            </a:extLst>
          </p:cNvPr>
          <p:cNvSpPr txBox="1"/>
          <p:nvPr/>
        </p:nvSpPr>
        <p:spPr>
          <a:xfrm>
            <a:off x="7288076" y="1295468"/>
            <a:ext cx="4072181" cy="523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A single, intelligent workspace for all supply chain exceptions — triaged, prioritized, and partially       resolved before the buyer arrives. </a:t>
            </a:r>
          </a:p>
          <a:p>
            <a:pPr>
              <a:lnSpc>
                <a:spcPct val="150000"/>
              </a:lnSpc>
            </a:pPr>
            <a:endParaRPr lang="en-US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KPI strip shows Urgent / Needs Decision / Auto-Resolved counts at a glance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Aera-recommended actions surface inline — buyers can Act, Modify, or Dismiss without leaving the inbox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Auto-resolved exceptions are grouped below with time saved, giving buyers full visibility and            auditability                                                                                              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"View rule →" on each auto-resolved card links directly to the Aera skill that triggered the              resolution, closing the loop between operational view and admin configuration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90C10-420A-A8CC-09BD-4707BC999C04}"/>
              </a:ext>
            </a:extLst>
          </p:cNvPr>
          <p:cNvSpPr txBox="1"/>
          <p:nvPr/>
        </p:nvSpPr>
        <p:spPr>
          <a:xfrm>
            <a:off x="7288076" y="330651"/>
            <a:ext cx="4537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Exception Inbox - Overview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9ADE123-E0A8-B4CC-0A53-52EFF87FCB45}"/>
              </a:ext>
            </a:extLst>
          </p:cNvPr>
          <p:cNvSpPr/>
          <p:nvPr/>
        </p:nvSpPr>
        <p:spPr>
          <a:xfrm>
            <a:off x="6244566" y="1480088"/>
            <a:ext cx="497197" cy="5153187"/>
          </a:xfrm>
          <a:prstGeom prst="rightBrace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0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92B3-35EE-8437-0686-5077BCE8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DDA142-2968-5B56-339D-EC45E67FA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68331" y="0"/>
            <a:ext cx="6981229" cy="6858000"/>
          </a:xfrm>
          <a:prstGeom prst="rect">
            <a:avLst/>
          </a:prstGeom>
        </p:spPr>
      </p:pic>
      <p:sp>
        <p:nvSpPr>
          <p:cNvPr id="2" name="Double Bracket 1">
            <a:extLst>
              <a:ext uri="{FF2B5EF4-FFF2-40B4-BE49-F238E27FC236}">
                <a16:creationId xmlns:a16="http://schemas.microsoft.com/office/drawing/2014/main" id="{0C416725-9D0B-FC93-F97B-34D9F5749E53}"/>
              </a:ext>
            </a:extLst>
          </p:cNvPr>
          <p:cNvSpPr/>
          <p:nvPr/>
        </p:nvSpPr>
        <p:spPr>
          <a:xfrm>
            <a:off x="5633633" y="1224366"/>
            <a:ext cx="906651" cy="402956"/>
          </a:xfrm>
          <a:prstGeom prst="bracketPair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F6E27-8D9C-2956-BA2D-315D1ECB9FB3}"/>
              </a:ext>
            </a:extLst>
          </p:cNvPr>
          <p:cNvSpPr txBox="1"/>
          <p:nvPr/>
        </p:nvSpPr>
        <p:spPr>
          <a:xfrm>
            <a:off x="7288076" y="1224366"/>
            <a:ext cx="4072181" cy="2323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Card view </a:t>
            </a:r>
            <a:r>
              <a:rPr lang="en-US" sz="1400"/>
              <a:t>— rich per-exception KPIs, recommended actions, and signal chips optimized for decision-making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Table view </a:t>
            </a:r>
            <a:r>
              <a:rPr lang="en-US" sz="1400"/>
              <a:t>— high-density layout for buyers managing large exception volumes or doing bulk triage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9C87E-6D29-C6AF-0735-56B6FE7924F2}"/>
              </a:ext>
            </a:extLst>
          </p:cNvPr>
          <p:cNvSpPr txBox="1"/>
          <p:nvPr/>
        </p:nvSpPr>
        <p:spPr>
          <a:xfrm>
            <a:off x="7288076" y="330651"/>
            <a:ext cx="4537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Exception Inbox: Views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2BEDEB-D456-0831-B631-377B125C0CBD}"/>
              </a:ext>
            </a:extLst>
          </p:cNvPr>
          <p:cNvCxnSpPr>
            <a:cxnSpLocks/>
          </p:cNvCxnSpPr>
          <p:nvPr/>
        </p:nvCxnSpPr>
        <p:spPr>
          <a:xfrm>
            <a:off x="6540284" y="1410346"/>
            <a:ext cx="767166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53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7BBC-33DD-1272-5DD7-F2720E26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9756A1-3CCA-EAB1-F3C1-873F16E1B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244566" cy="6858000"/>
          </a:xfrm>
          <a:prstGeom prst="rect">
            <a:avLst/>
          </a:prstGeom>
        </p:spPr>
      </p:pic>
      <p:sp>
        <p:nvSpPr>
          <p:cNvPr id="2" name="Double Bracket 1">
            <a:extLst>
              <a:ext uri="{FF2B5EF4-FFF2-40B4-BE49-F238E27FC236}">
                <a16:creationId xmlns:a16="http://schemas.microsoft.com/office/drawing/2014/main" id="{AEE03AD2-6787-D785-AC34-A63C137FBC68}"/>
              </a:ext>
            </a:extLst>
          </p:cNvPr>
          <p:cNvSpPr/>
          <p:nvPr/>
        </p:nvSpPr>
        <p:spPr>
          <a:xfrm>
            <a:off x="3665348" y="1053884"/>
            <a:ext cx="1247615" cy="402956"/>
          </a:xfrm>
          <a:prstGeom prst="bracketPair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93E26-3E5A-1EDE-CB4D-C33285F2732E}"/>
              </a:ext>
            </a:extLst>
          </p:cNvPr>
          <p:cNvSpPr txBox="1"/>
          <p:nvPr/>
        </p:nvSpPr>
        <p:spPr>
          <a:xfrm>
            <a:off x="7288076" y="730761"/>
            <a:ext cx="3948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Natural Language 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BB102-AE09-445C-2D6B-055E9A53CB5A}"/>
              </a:ext>
            </a:extLst>
          </p:cNvPr>
          <p:cNvSpPr txBox="1"/>
          <p:nvPr/>
        </p:nvSpPr>
        <p:spPr>
          <a:xfrm>
            <a:off x="7288076" y="1130871"/>
            <a:ext cx="4072181" cy="167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Buyers can filter the exception inbox using plain language — no dropdowns, no manual query building.     </a:t>
            </a:r>
          </a:p>
          <a:p>
            <a:pPr>
              <a:lnSpc>
                <a:spcPct val="150000"/>
              </a:lnSpc>
            </a:pPr>
            <a:r>
              <a:rPr lang="en-US" sz="1400"/>
              <a:t>Example: "Show urgent forecast exceptions for Volterra this week"                                    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397ED-618D-A101-D4BB-597391C68775}"/>
              </a:ext>
            </a:extLst>
          </p:cNvPr>
          <p:cNvSpPr txBox="1"/>
          <p:nvPr/>
        </p:nvSpPr>
        <p:spPr>
          <a:xfrm>
            <a:off x="7288076" y="330651"/>
            <a:ext cx="4537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Exception Inbox: Intelligent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147708-9136-6F44-A109-B1B9297852C1}"/>
              </a:ext>
            </a:extLst>
          </p:cNvPr>
          <p:cNvCxnSpPr>
            <a:cxnSpLocks/>
          </p:cNvCxnSpPr>
          <p:nvPr/>
        </p:nvCxnSpPr>
        <p:spPr>
          <a:xfrm>
            <a:off x="4912963" y="1309607"/>
            <a:ext cx="2301498" cy="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2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EAD7-45C2-D679-A87D-E50E202C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3770B8-A516-FAA5-E8D2-4177AEA3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68331" y="0"/>
            <a:ext cx="6981229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87664C-960E-7C9E-D3ED-E399778453A8}"/>
              </a:ext>
            </a:extLst>
          </p:cNvPr>
          <p:cNvSpPr txBox="1"/>
          <p:nvPr/>
        </p:nvSpPr>
        <p:spPr>
          <a:xfrm>
            <a:off x="7288076" y="876486"/>
            <a:ext cx="4537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Admin - Configure Exception Rules</a:t>
            </a:r>
            <a:r>
              <a:rPr lang="en-US" sz="1400"/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3BBC8-5186-FF1B-B742-233315267C65}"/>
              </a:ext>
            </a:extLst>
          </p:cNvPr>
          <p:cNvSpPr txBox="1"/>
          <p:nvPr/>
        </p:nvSpPr>
        <p:spPr>
          <a:xfrm>
            <a:off x="7288076" y="1329989"/>
            <a:ext cx="464484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Aera owns the intelligence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Skill configuration — define what triggers an exception and what action to 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Auto-resolve thresholds, escalation chains, and approval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Active skills in prototype: Forecast Commit, ASN Partial Shipment, OC Deviation Escalation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Each skill shows trigger → evaluate → auto-resolve/escalate workflow steps with a live threshold slider</a:t>
            </a:r>
          </a:p>
          <a:p>
            <a:endParaRPr lang="en-US" sz="1400"/>
          </a:p>
          <a:p>
            <a:r>
              <a:rPr lang="en-US" sz="1400"/>
              <a:t> "Powered by Aera" badge marks the boundary clearly for both users and partners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453B0-D1F8-49D1-50CE-8CEF73A0ABEC}"/>
              </a:ext>
            </a:extLst>
          </p:cNvPr>
          <p:cNvSpPr txBox="1"/>
          <p:nvPr/>
        </p:nvSpPr>
        <p:spPr>
          <a:xfrm>
            <a:off x="7288076" y="330651"/>
            <a:ext cx="4537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Admin: Exception Rules (Aera layer) </a:t>
            </a:r>
          </a:p>
        </p:txBody>
      </p:sp>
    </p:spTree>
    <p:extLst>
      <p:ext uri="{BB962C8B-B14F-4D97-AF65-F5344CB8AC3E}">
        <p14:creationId xmlns:p14="http://schemas.microsoft.com/office/powerpoint/2010/main" val="337810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FAA4-7386-85C6-3A5A-1BDEB325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F47C9F-33CF-730F-2E49-373804A5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68331" y="0"/>
            <a:ext cx="6981228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5A2CB-267B-479F-F0BD-3625918BB97A}"/>
              </a:ext>
            </a:extLst>
          </p:cNvPr>
          <p:cNvSpPr txBox="1"/>
          <p:nvPr/>
        </p:nvSpPr>
        <p:spPr>
          <a:xfrm>
            <a:off x="7288076" y="330651"/>
            <a:ext cx="4537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Admin: System Settings (BN layer)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181A3-9621-2BCE-EBD8-601CB7F919F7}"/>
              </a:ext>
            </a:extLst>
          </p:cNvPr>
          <p:cNvSpPr txBox="1"/>
          <p:nvPr/>
        </p:nvSpPr>
        <p:spPr>
          <a:xfrm>
            <a:off x="7288076" y="876486"/>
            <a:ext cx="4537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Admin – System settings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13439-C21D-FED6-B68F-A8EFE1B42F56}"/>
              </a:ext>
            </a:extLst>
          </p:cNvPr>
          <p:cNvSpPr txBox="1"/>
          <p:nvPr/>
        </p:nvSpPr>
        <p:spPr>
          <a:xfrm>
            <a:off x="7288076" y="1329989"/>
            <a:ext cx="46448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SAP BN owns the operational layer: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System connectors (S/4HANA, SAP IBP, Alert Framework)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Organization structure, plant configuration, fiscal year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User roles and access </a:t>
            </a:r>
          </a:p>
          <a:p>
            <a:endParaRPr lang="en-US" sz="1400"/>
          </a:p>
          <a:p>
            <a:r>
              <a:rPr lang="en-US" sz="1400"/>
              <a:t>The convergence model presents one unified Admin experience — Aera configures the intelligence, BN owns  the data and operations. No context switching for the user</a:t>
            </a:r>
          </a:p>
        </p:txBody>
      </p:sp>
    </p:spTree>
    <p:extLst>
      <p:ext uri="{BB962C8B-B14F-4D97-AF65-F5344CB8AC3E}">
        <p14:creationId xmlns:p14="http://schemas.microsoft.com/office/powerpoint/2010/main" val="235795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9094-7EA4-FF29-5255-5E923F45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068B96-4299-B745-E134-64FC1419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61830"/>
            <a:ext cx="6244566" cy="61343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E37D8F-91DA-66E6-C7B5-024B379B17D1}"/>
              </a:ext>
            </a:extLst>
          </p:cNvPr>
          <p:cNvSpPr txBox="1"/>
          <p:nvPr/>
        </p:nvSpPr>
        <p:spPr>
          <a:xfrm>
            <a:off x="7288076" y="784023"/>
            <a:ext cx="3948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Exception Details – powered by Aera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6D1E2-E0A4-33C3-E554-DC93604A37D5}"/>
              </a:ext>
            </a:extLst>
          </p:cNvPr>
          <p:cNvSpPr txBox="1"/>
          <p:nvPr/>
        </p:nvSpPr>
        <p:spPr>
          <a:xfrm>
            <a:off x="7288076" y="1252105"/>
            <a:ext cx="4072181" cy="3939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Full analysis for a single exception, surfaced in context.</a:t>
            </a:r>
          </a:p>
          <a:p>
            <a:pPr>
              <a:lnSpc>
                <a:spcPct val="150000"/>
              </a:lnSpc>
            </a:pPr>
            <a:endParaRPr lang="en-US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Root cause breakdown with contributing signals (Forecast erosion, OC gap, ASN shortfall)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Aera-recommended action with confidence score and reasoning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Deep linking — navigate directly from the exception into the relevant BN application (e.g. click the Forecast figure to open the Forecast detail view in context)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95F3F-825E-A10A-17A4-C9292BB1A6EA}"/>
              </a:ext>
            </a:extLst>
          </p:cNvPr>
          <p:cNvSpPr txBox="1"/>
          <p:nvPr/>
        </p:nvSpPr>
        <p:spPr>
          <a:xfrm>
            <a:off x="7288076" y="330651"/>
            <a:ext cx="4537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Exception Details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E94C44E-223B-5316-77CA-0A12F645EE12}"/>
              </a:ext>
            </a:extLst>
          </p:cNvPr>
          <p:cNvSpPr/>
          <p:nvPr/>
        </p:nvSpPr>
        <p:spPr>
          <a:xfrm>
            <a:off x="6244566" y="593655"/>
            <a:ext cx="497197" cy="5902514"/>
          </a:xfrm>
          <a:prstGeom prst="rightBrace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4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4D44-FBD4-B791-6839-855F0251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B8AD01-57A1-F5D5-FE97-D791852FD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61830"/>
            <a:ext cx="6244566" cy="61343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880FE7-C8A6-9E5C-D0AB-73EDA892966E}"/>
              </a:ext>
            </a:extLst>
          </p:cNvPr>
          <p:cNvSpPr txBox="1"/>
          <p:nvPr/>
        </p:nvSpPr>
        <p:spPr>
          <a:xfrm>
            <a:off x="7288076" y="330651"/>
            <a:ext cx="4537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Deep Linking &amp; Recommended Action</a:t>
            </a:r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578E9730-4B5C-B45F-9280-13A4320C5D27}"/>
              </a:ext>
            </a:extLst>
          </p:cNvPr>
          <p:cNvSpPr/>
          <p:nvPr/>
        </p:nvSpPr>
        <p:spPr>
          <a:xfrm>
            <a:off x="2666227" y="4751250"/>
            <a:ext cx="653045" cy="402956"/>
          </a:xfrm>
          <a:prstGeom prst="bracketPair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D3047-4B3D-F2F7-71EF-3AFB5F81F888}"/>
              </a:ext>
            </a:extLst>
          </p:cNvPr>
          <p:cNvSpPr txBox="1"/>
          <p:nvPr/>
        </p:nvSpPr>
        <p:spPr>
          <a:xfrm>
            <a:off x="7288076" y="1214986"/>
            <a:ext cx="4072181" cy="3292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The prototype demonstrates an end-to-end loop:  </a:t>
            </a:r>
          </a:p>
          <a:p>
            <a:pPr>
              <a:lnSpc>
                <a:spcPct val="150000"/>
              </a:lnSpc>
            </a:pPr>
            <a:endParaRPr lang="en-US" sz="14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/>
              <a:t>Exception surfaces in the Inbox (SAP BN)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/>
              <a:t>Aera provides root cause + recommended action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/>
              <a:t>Deep link opens the source document in context (e.g. Forecast)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/>
              <a:t>Buyer acts — or Aera has already resolved it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400"/>
              <a:t>Admin shows which skill drove the resolution, and allows threshold tuning</a:t>
            </a:r>
          </a:p>
        </p:txBody>
      </p:sp>
    </p:spTree>
    <p:extLst>
      <p:ext uri="{BB962C8B-B14F-4D97-AF65-F5344CB8AC3E}">
        <p14:creationId xmlns:p14="http://schemas.microsoft.com/office/powerpoint/2010/main" val="252075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Exception Management - SAP BN × Aera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Charleen</dc:creator>
  <cp:revision>2</cp:revision>
  <dcterms:created xsi:type="dcterms:W3CDTF">2026-04-01T15:29:58Z</dcterms:created>
  <dcterms:modified xsi:type="dcterms:W3CDTF">2026-04-02T23:05:42Z</dcterms:modified>
</cp:coreProperties>
</file>